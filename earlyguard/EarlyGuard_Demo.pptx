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EarlyGuard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ML-Powered Early Warning for Loan Defaults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SLIDE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04672"/>
            <a:ext cx="12188952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11112"/>
            <a:ext cx="1188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Credit Nirvana  ·  EarlyGuard Demo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60120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E293B"/>
                </a:solidFill>
              </a:rPr>
              <a:t>The Problem — and What We Built to Solve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81328"/>
            <a:ext cx="457200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600200"/>
            <a:ext cx="5394960" cy="4864608"/>
          </a:xfrm>
          <a:prstGeom prst="rect">
            <a:avLst/>
          </a:prstGeom>
          <a:solidFill>
            <a:srgbClr val="FEE2E2"/>
          </a:solidFill>
          <a:ln w="1524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600200"/>
            <a:ext cx="5394960" cy="640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7099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91C1C"/>
                </a:solidFill>
              </a:rPr>
              <a:t>THE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11680"/>
            <a:ext cx="4937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Lenders discover defaults only after they happen. By then the account is already delinquent and the only option is expensive field recovery.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2926080"/>
            <a:ext cx="50749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9900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</a:rPr>
              <a:t>No early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246120"/>
            <a:ext cx="4663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Decisions based on lagging DPD data only — no predictive 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3593592"/>
            <a:ext cx="50749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6576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</a:rPr>
              <a:t>One-size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913632"/>
            <a:ext cx="4663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All at-risk accounts treated the same — zero risk stratification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4261104"/>
            <a:ext cx="50749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32511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</a:rPr>
              <a:t>Ops cost explosion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581144"/>
            <a:ext cx="4663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Post-default: ₹101.50/account  (field agent ₹100 + call ₹1 + SMS ₹0.50)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4928616"/>
            <a:ext cx="50749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99262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</a:rPr>
              <a:t>Loan loss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248656"/>
            <a:ext cx="4663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50% of at-risk accounts default without any proactive intervention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600200"/>
            <a:ext cx="5760720" cy="2148840"/>
          </a:xfrm>
          <a:prstGeom prst="rect">
            <a:avLst/>
          </a:prstGeom>
          <a:solidFill>
            <a:srgbClr val="DBEAFE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600200"/>
            <a:ext cx="576072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8" y="17099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THE SOLUTION — EARLYGUARD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1993392"/>
            <a:ext cx="54864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Score every loan account before it defaults — 30 days and 60 days ahead.
Route only genuinely at-risk accounts to collections with a precise action, timing, tone, and offer.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287121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D4ED8"/>
                </a:solidFill>
              </a:rPr>
              <a:t>Result: catch slow-burn accounts that a 30d-only system misses entirely.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3886200"/>
            <a:ext cx="5760720" cy="2578608"/>
          </a:xfrm>
          <a:prstGeom prst="rect">
            <a:avLst/>
          </a:prstGeom>
          <a:solidFill>
            <a:srgbClr val="DCFCE7"/>
          </a:solidFill>
          <a:ln w="1524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40" y="3886200"/>
            <a:ext cx="5760720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6208" y="3977639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803D"/>
                </a:solidFill>
              </a:rPr>
              <a:t>DATASET — 5,000 LOAN ACCOUNTS  ·  6 DATA SOURCES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437083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37083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Loan Accounts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37083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EMI, outstanding balance, employment type, product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4695444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69544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Bank Statements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69544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Monthly inflow, surplus, expense ratios — last 6 months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6208" y="502005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02005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Bureau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502005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Credit score history, hard enquiries, missed payments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5344668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📞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534466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Telecall History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534466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Response rates, PTP outcomes, sentiment, contact avoidance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56692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566928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EPFO / Employment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566928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Contribution gaps, job changes, GST &amp; ITR filing status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8" y="599389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59938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Payment History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599389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EMI delays, partial payments, missed payments — 6 months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6309360"/>
            <a:ext cx="5760720" cy="256032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72200" y="6318504"/>
            <a:ext cx="54864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16207"/>
                </a:solidFill>
              </a:rPr>
              <a:t>✦  Works with any combination of sources — even loan data alone is enough to score accounts.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2200" y="6437376"/>
            <a:ext cx="54864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16207"/>
                </a:solidFill>
              </a:rPr>
              <a:t>✦  Bank statements assumed pre-processed: categorised transactions (salary credit, UPI inflows, business turnover, rent, etc.) already extracted by a statement analyser.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EarlyGuard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ML-Powered Early Warning for Loan Defaults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SLIDE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04672"/>
            <a:ext cx="12188952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11112"/>
            <a:ext cx="1188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Credit Nirvana  ·  EarlyGuard Demo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60120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E293B"/>
                </a:solidFill>
              </a:rPr>
              <a:t>How It Works — 4 Stages, 10 Signals, One Risk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81328"/>
            <a:ext cx="457200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572768"/>
            <a:ext cx="2633472" cy="1755648"/>
          </a:xfrm>
          <a:prstGeom prst="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572768"/>
            <a:ext cx="2633472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1673352"/>
            <a:ext cx="243230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D4ED8"/>
                </a:solidFill>
              </a:rPr>
              <a:t>STAGE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1920240"/>
            <a:ext cx="24323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6 Raw Datasets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2423160"/>
            <a:ext cx="243230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Loan · Bank · Bureau
Telecall · EPFO · Payment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4951" y="2304288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2E8F0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64408" y="1572768"/>
            <a:ext cx="2633472" cy="1755648"/>
          </a:xfrm>
          <a:prstGeom prst="rect">
            <a:avLst/>
          </a:prstGeom>
          <a:solidFill>
            <a:srgbClr val="FFFFFF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64408" y="1572768"/>
            <a:ext cx="2633472" cy="6400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92424" y="1673352"/>
            <a:ext cx="243230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D28D9"/>
                </a:solidFill>
              </a:rPr>
              <a:t>STAGE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2424" y="1920240"/>
            <a:ext cx="24323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10 Signals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2424" y="2423160"/>
            <a:ext cx="243230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Domain-scored 0–1
per account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599" y="2304288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2E8F0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63056" y="1572768"/>
            <a:ext cx="2633472" cy="1755648"/>
          </a:xfrm>
          <a:prstGeom prst="rect">
            <a:avLst/>
          </a:prstGeom>
          <a:solidFill>
            <a:srgbClr val="FFFFFF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3056" y="1572768"/>
            <a:ext cx="2633472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1673352"/>
            <a:ext cx="243230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2410C"/>
                </a:solidFill>
              </a:rPr>
              <a:t>STAGE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1920240"/>
            <a:ext cx="24323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Stacked Ensemble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2423160"/>
            <a:ext cx="243230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LR + RF + XGBoost
→ Meta LR combiner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42248" y="2304288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2E8F0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61704" y="1572768"/>
            <a:ext cx="2633472" cy="1755648"/>
          </a:xfrm>
          <a:prstGeom prst="rect">
            <a:avLst/>
          </a:prstGeom>
          <a:solidFill>
            <a:srgbClr val="FFFFFF"/>
          </a:solidFill>
          <a:ln w="1524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61704" y="1572768"/>
            <a:ext cx="2633472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1673352"/>
            <a:ext cx="243230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5803D"/>
                </a:solidFill>
              </a:rPr>
              <a:t>STAGE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1920240"/>
            <a:ext cx="24323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Risk 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2423160"/>
            <a:ext cx="243230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Tier · Action · Timing
Tone · Offer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429000"/>
            <a:ext cx="114300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465576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</a:rPr>
              <a:t>10 ENGINEERED SIGNALS  ·  Scored 0 (healthy) → 1 (stressed)  ·  Signals &amp; weights fully configurable — add, remove, or retrain per client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785615"/>
            <a:ext cx="571500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3785615"/>
            <a:ext cx="54864" cy="53492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" y="3822191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Payment Deterioration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" y="4059935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</a:rPr>
              <a:t>Is the customer short-paying or skipping EMIs right now?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7791" y="3822191"/>
            <a:ext cx="306324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2410C"/>
                </a:solidFill>
              </a:rPr>
              <a:t>Partial payment ratio (40%)  ·  Count of missed EMIs (3m) (35%)  ·  Average days late (3m) (25%)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54496" y="3785615"/>
            <a:ext cx="571500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54496" y="3785615"/>
            <a:ext cx="54864" cy="53492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73368" y="3822191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Financial Cushion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3368" y="4059935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</a:rPr>
              <a:t>Is the bank balance shrinking month after month?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96528" y="3822191"/>
            <a:ext cx="306324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D4ED8"/>
                </a:solidFill>
              </a:rPr>
              <a:t>Net surplus slope (3m) (45%)  ·  Expense-to-income ratio (30%)  ·  Days balance near zero (25%)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357116"/>
            <a:ext cx="571500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4357116"/>
            <a:ext cx="54864" cy="53492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4632" y="4393692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Income Reliability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4632" y="4631436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</a:rPr>
              <a:t>Is the customer's income stable and arriving on time?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07791" y="4393692"/>
            <a:ext cx="306324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D28D9"/>
                </a:solidFill>
              </a:rPr>
              <a:t>Salaried — salary delay days (40%)  ·  EPFO zero-contribution months (35%)  ·  Job change detected (25%)  ·  Self-emp — GST filing stress (40%)  ·  UPI inflow trend declining (35%)  ·  ITR not filed flag (25%)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54496" y="4357116"/>
            <a:ext cx="571500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54496" y="4357116"/>
            <a:ext cx="54864" cy="53492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73368" y="4393692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Bureau Stress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73368" y="4631436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</a:rPr>
              <a:t>Is the customer's credit score dropping and missing elsewhere?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96528" y="4393692"/>
            <a:ext cx="306324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91C1C"/>
                </a:solidFill>
              </a:rPr>
              <a:t>Credit score drop (vs 6m ago) (40%)  ·  Missed payments at other lenders (35%)  ·  Hard enquiries last 30 days (25%)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928616"/>
            <a:ext cx="571500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5760" y="4928616"/>
            <a:ext cx="54864" cy="53492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4632" y="4965192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Contact Avoidance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4632" y="5202936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</a:rPr>
              <a:t>Is the customer picking up calls or going completely silent?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07791" y="4965192"/>
            <a:ext cx="306324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2410C"/>
                </a:solidFill>
              </a:rPr>
              <a:t>Response rate (30d) (35%)  ·  Consecutive unanswered calls (35%)  ·  Days since last contact (30%)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54496" y="4928616"/>
            <a:ext cx="571500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54496" y="4928616"/>
            <a:ext cx="54864" cy="53492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73368" y="4965192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Debt Pressure Ratio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73368" y="5202936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</a:rPr>
              <a:t>How much of the income goes to paying all EMIs combined?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96528" y="4965192"/>
            <a:ext cx="306324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91C1C"/>
                </a:solidFill>
              </a:rPr>
              <a:t>Our EMI + other lender EMIs  ·  ÷ total monthly inflow (direct ratio, uncapped)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5500116"/>
            <a:ext cx="571500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65760" y="5500116"/>
            <a:ext cx="54864" cy="534924"/>
          </a:xfrm>
          <a:prstGeom prst="rect">
            <a:avLst/>
          </a:prstGeom>
          <a:solidFill>
            <a:srgbClr val="A16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4632" y="5536692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PTP Reliability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4632" y="5774436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</a:rPr>
              <a:t>When the customer promises to pay, do they follow through?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07791" y="5536692"/>
            <a:ext cx="306324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16207"/>
                </a:solidFill>
              </a:rPr>
              <a:t>Broken PTPs last 3 months (50%)  ·  Historical fulfilment rate (50%)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54496" y="5500116"/>
            <a:ext cx="571500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54496" y="5500116"/>
            <a:ext cx="54864" cy="53492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536692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Sentiment Distress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73368" y="5774436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</a:rPr>
              <a:t>Does the customer sound stressed or hostile on calls?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96528" y="5536692"/>
            <a:ext cx="306324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D28D9"/>
                </a:solidFill>
              </a:rPr>
              <a:t>Sentiment score (last call) (35%)  ·  Dominant emotion type (30%)  ·  Hardship flag mentioned (20%)  ·  3-month sentiment trend (15%)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6071616"/>
            <a:ext cx="571500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65760" y="6071616"/>
            <a:ext cx="54864" cy="53492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4632" y="6108192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Recency-Weighted Stress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4632" y="6345936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</a:rPr>
              <a:t>Recent missed payments count far more — catches sudden drops.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07791" y="6108192"/>
            <a:ext cx="306324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2410C"/>
                </a:solidFill>
              </a:rPr>
              <a:t>6-month payment history  ·  Weights oldest→newest: (5%→8%→12%→17%→25%→33%)  ·  Newest payment = 6× oldest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54496" y="6071616"/>
            <a:ext cx="571500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254496" y="6071616"/>
            <a:ext cx="54864" cy="53492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73368" y="6108192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Employment Event Recency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73368" y="6345936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</a:rPr>
              <a:t>Did the customer recently lose a job or show business trouble?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796528" y="6108192"/>
            <a:ext cx="306324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D4ED8"/>
                </a:solidFill>
              </a:rPr>
              <a:t>Salaried — job change recency [primary]  ·  EPFO zero-contribution months [secondary]  ·  Self-emp — GST trend decline [primary]  ·  ITR not filed (self-emp) [secondary]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" y="6419088"/>
            <a:ext cx="11430000" cy="14630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2920" y="6428232"/>
            <a:ext cx="11155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D4ED8"/>
                </a:solidFill>
              </a:rPr>
              <a:t>Signals can be added or removed  ·  Sub-weights adjusted by the credit team without retraining  ·  New weights take effect automatically on next run.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EarlyGuard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ML-Powered Early Warning for Loan Defaults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SLIDE 3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04672"/>
            <a:ext cx="12188952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11112"/>
            <a:ext cx="1188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Credit Nirvana  ·  EarlyGuard Demo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60120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E293B"/>
                </a:solidFill>
              </a:rPr>
              <a:t>Validated Performance + What Collections Gets + Business ROI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81328"/>
            <a:ext cx="457200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572768"/>
            <a:ext cx="11430000" cy="1389888"/>
          </a:xfrm>
          <a:prstGeom prst="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572768"/>
            <a:ext cx="1143000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66420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MODEL VALIDATION — HELD-OUT 30% TEST SET  ·  STACKED ENSEMBLE: LR + RF + XGBoost → Meta LR Combiner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938528"/>
            <a:ext cx="3657600" cy="9326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1993392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AUC-ROC  (30-day model)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223113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5803D"/>
                </a:solidFill>
              </a:rPr>
              <a:t>0.8596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2670048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target ≥ 0.72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670048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5803D"/>
                </a:solidFill>
              </a:rPr>
              <a:t>PASS 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1938528"/>
            <a:ext cx="3657600" cy="9326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1416" y="1993392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AUC-ROC  (60-day model)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223113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5803D"/>
                </a:solidFill>
              </a:rPr>
              <a:t>0.8736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2670048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target ≥ 0.68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670048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5803D"/>
                </a:solidFill>
              </a:rPr>
              <a:t>PASS 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80" y="1938528"/>
            <a:ext cx="3657600" cy="9326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1896" y="1993392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False Positive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223113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5803D"/>
                </a:solidFill>
              </a:rPr>
              <a:t>12.51%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2670048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target ≤ 25%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2670048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5803D"/>
                </a:solidFill>
              </a:rPr>
              <a:t>PASS 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072384"/>
            <a:ext cx="6949440" cy="2057400"/>
          </a:xfrm>
          <a:prstGeom prst="rect">
            <a:avLst/>
          </a:prstGeom>
          <a:solidFill>
            <a:srgbClr val="DBEAFE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3072384"/>
            <a:ext cx="694944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318211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</a:rPr>
              <a:t>WHAT EARLYGUARD OUTPUTS TODAY — RECOMMENDED 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493008"/>
            <a:ext cx="6583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Every flagged account gets one specific action driven by its highest-stress signal.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" y="3749039"/>
            <a:ext cx="2148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3794759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EMI Relief Call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16352" y="3749039"/>
            <a:ext cx="2148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07792" y="3794759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Hardship Support Call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02352" y="3749039"/>
            <a:ext cx="2148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93792" y="3794759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PTP Re-engagement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" y="4096511"/>
            <a:ext cx="2148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" y="4142231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Empathy Outreach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16352" y="4096511"/>
            <a:ext cx="2148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07792" y="4142231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Bureau Advisory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02352" y="4096511"/>
            <a:ext cx="2148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93792" y="4142231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Urgent Follow-up Call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" y="4443983"/>
            <a:ext cx="2148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" y="4489703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Restructure Discussion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16352" y="4443983"/>
            <a:ext cx="2148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07792" y="4489703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Standard Follow-up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02352" y="4443983"/>
            <a:ext cx="2148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93792" y="4489703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No Intervention (Low risk)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71231" y="3072384"/>
            <a:ext cx="4224528" cy="2057400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71231" y="3072384"/>
            <a:ext cx="4224528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26679" y="318211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803D"/>
                </a:solidFill>
              </a:rPr>
              <a:t>BUSINESS CASE — 10 ACCOUNTS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99248" y="3493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At-risk accounts flagged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349300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15803D"/>
                </a:solidFill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99248" y="369417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Baseline default rate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369417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15803D"/>
                </a:solidFill>
              </a:rPr>
              <a:t>50%  →  5 default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99248" y="389534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Loan amount at risk (₹1L each)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389534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15803D"/>
                </a:solidFill>
              </a:rPr>
              <a:t>₹5,00,000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99248" y="4096511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EarlyGuard recovery rate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4096511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15803D"/>
                </a:solidFill>
              </a:rPr>
              <a:t>40%  →  4 saved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99248" y="4297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Post-default ops cost / account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42976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15803D"/>
                </a:solidFill>
              </a:rPr>
              <a:t>₹101.50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99248" y="449884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EarlyGuard early ops cost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449884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15803D"/>
                </a:solidFill>
              </a:rPr>
              <a:t>₹1.50 / account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99248" y="470001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Loan amount protected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470001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15803D"/>
                </a:solidFill>
              </a:rPr>
              <a:t>₹4,00,000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99248" y="490118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Net ROI on at-risk portfolio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901183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15803D"/>
                </a:solidFill>
              </a:rPr>
              <a:t>~80%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5230368"/>
            <a:ext cx="11430000" cy="129844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65760" y="5230368"/>
            <a:ext cx="1143000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6928" y="532180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2410C"/>
                </a:solidFill>
              </a:rPr>
              <a:t>FUTURE SCOPE — TIMING, TONE &amp; OFFER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5577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</a:rPr>
              <a:t>These three outputs are an already-solved problem for most collections teams. EarlyGuard's ACTION + risk score can plug directly into existing business-rule engines or CRM systems that the client already operates.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5888736"/>
            <a:ext cx="36118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6928" y="592531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803D"/>
                </a:solidFill>
              </a:rPr>
              <a:t>TIMING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508760" y="5925312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Best contact window — fetched from client's CRM / IVR system using historical response data per account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51960" y="5888736"/>
            <a:ext cx="36118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361688" y="592531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2410C"/>
                </a:solidFill>
              </a:rPr>
              <a:t>TONE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03520" y="5925312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Empathy / vulnerability flag — sourced from existing sentiment tools or collections playbook rules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46720" y="5888736"/>
            <a:ext cx="36118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56448" y="592531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</a:rPr>
              <a:t>OFFER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98280" y="5925312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Restructure / holiday / partial — pulled from credit team's business-rule engine against account 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